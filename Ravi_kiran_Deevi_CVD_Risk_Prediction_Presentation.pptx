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12"/>
  </p:normalViewPr>
  <p:slideViewPr>
    <p:cSldViewPr snapToGrid="0" snapToObjects="1">
      <p:cViewPr varScale="1">
        <p:scale>
          <a:sx n="78" d="100"/>
          <a:sy n="78" d="100"/>
        </p:scale>
        <p:origin x="94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8229600" cy="422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43200" y="1645920"/>
            <a:ext cx="3657600" cy="54864"/>
          </a:xfrm>
          <a:prstGeom prst="rect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640080"/>
            <a:ext cx="7315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682B4"/>
                </a:solidFill>
                <a:latin typeface="Calibri"/>
              </a:defRPr>
            </a:pPr>
            <a:r>
              <a:t>Predictive Analysis of Cardiovascular</a:t>
            </a:r>
            <a:br/>
            <a:r>
              <a:t>Disease Risk Using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1A"/>
                </a:solidFill>
                <a:latin typeface="Calibri"/>
              </a:defRPr>
            </a:pPr>
            <a:r>
              <a:t>Ravi Kiran Deevi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1A"/>
                </a:solidFill>
                <a:latin typeface="Calibri"/>
              </a:defRPr>
            </a:pPr>
            <a:r>
              <a:t>MSc Data Science  |  University of Hertfordshire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6F61"/>
                </a:solidFill>
                <a:latin typeface="Calibri"/>
              </a:defRPr>
            </a:pPr>
            <a:r>
              <a:t>7PAM2002  |  Semester A 2025/2026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7315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682B4"/>
                </a:solidFill>
                <a:latin typeface="Calibri"/>
              </a:defRPr>
            </a:pPr>
            <a:r>
              <a:rPr dirty="0"/>
              <a:t>GitHub: </a:t>
            </a:r>
            <a:r>
              <a:rPr lang="en-GB" dirty="0"/>
              <a:t>https://github.com/ravi1563/FYP-RAVI</a:t>
            </a:r>
            <a:endParaRPr dirty="0"/>
          </a:p>
        </p:txBody>
      </p:sp>
      <p:sp>
        <p:nvSpPr>
          <p:cNvPr id="10" name="Rectangle 9"/>
          <p:cNvSpPr/>
          <p:nvPr/>
        </p:nvSpPr>
        <p:spPr>
          <a:xfrm>
            <a:off x="457200" y="4114800"/>
            <a:ext cx="8229600" cy="73152"/>
          </a:xfrm>
          <a:prstGeom prst="rect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Introduction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1A1A1A"/>
                </a:solidFill>
                <a:latin typeface="Calibri"/>
              </a:defRPr>
            </a:pPr>
            <a:r>
              <a:t>• Cardiovascular disease (CVD) is the leading cause of death globally, responsible for ~17.9 million deaths annually (WHO, 2021).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1A1A1A"/>
                </a:solidFill>
                <a:latin typeface="Calibri"/>
              </a:defRPr>
            </a:pPr>
            <a:r>
              <a:t>• Early and accurate prediction of CVD risk can enable timely intervention, potentially saving millions of lives.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1A1A1A"/>
                </a:solidFill>
                <a:latin typeface="Calibri"/>
              </a:defRPr>
            </a:pPr>
            <a:r>
              <a:t>• Machine learning offers a data-driven approach to identify high-risk individuals from clinical biomarkers.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1A1A1A"/>
                </a:solidFill>
                <a:latin typeface="Calibri"/>
              </a:defRPr>
            </a:pPr>
            <a:r>
              <a:t>• This study evaluates multiple ML classifiers, applies explainability techniques, and assesses class imbalance handling.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606040"/>
            <a:ext cx="8046720" cy="1920240"/>
          </a:xfrm>
          <a:prstGeom prst="roundRect">
            <a:avLst/>
          </a:prstGeom>
          <a:solidFill>
            <a:srgbClr val="F0F8FF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73152" rtlCol="0" anchor="ctr"/>
          <a:lstStyle/>
          <a:p>
            <a:pPr algn="ctr">
              <a:spcAft>
                <a:spcPts val="300"/>
              </a:spcAft>
              <a:defRPr sz="1400" b="1">
                <a:solidFill>
                  <a:srgbClr val="FF6F61"/>
                </a:solidFill>
                <a:latin typeface="Calibri"/>
              </a:defRPr>
            </a:pPr>
            <a:r>
              <a:t>Research Questions</a:t>
            </a:r>
          </a:p>
          <a:p>
            <a:pPr>
              <a:spcAft>
                <a:spcPts val="200"/>
              </a:spcAft>
              <a:defRPr sz="1200">
                <a:solidFill>
                  <a:srgbClr val="1A1A1A"/>
                </a:solidFill>
                <a:latin typeface="Calibri"/>
              </a:defRPr>
            </a:pPr>
            <a:r>
              <a:t>• RQ1: Which classification algorithm (LR, SVM, RF) achieves the highest F1-score for CVD diagnosis?</a:t>
            </a:r>
          </a:p>
          <a:p>
            <a:pPr>
              <a:spcAft>
                <a:spcPts val="200"/>
              </a:spcAft>
              <a:defRPr sz="1200">
                <a:solidFill>
                  <a:srgbClr val="1A1A1A"/>
                </a:solidFill>
                <a:latin typeface="Calibri"/>
              </a:defRPr>
            </a:pPr>
            <a:r>
              <a:t>• RQ2: Which risk factors are most critical drivers of heart disease prediction (SHAP values)?</a:t>
            </a:r>
          </a:p>
          <a:p>
            <a:pPr>
              <a:spcAft>
                <a:spcPts val="200"/>
              </a:spcAft>
              <a:defRPr sz="1200">
                <a:solidFill>
                  <a:srgbClr val="1A1A1A"/>
                </a:solidFill>
                <a:latin typeface="Calibri"/>
              </a:defRPr>
            </a:pPr>
            <a:r>
              <a:t>• RQ3: Does SMOTE or ADASYN significantly improve model sensitivity for the minority class?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>
                <a:solidFill>
                  <a:srgbClr val="FFFFFF"/>
                </a:solidFill>
                <a:latin typeface="Calibri"/>
              </a:defRPr>
            </a:pPr>
            <a:r>
              <a:t>Ravi Kiran Deevi  |  MSc Data Science  |  7PAM2002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Related Work / 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4682B4"/>
                </a:solidFill>
                <a:latin typeface="Calibri"/>
              </a:rPr>
              <a:t>Mohan, S., Thirumalai, C. and Srivastava, G. (2019) </a:t>
            </a:r>
            <a:r>
              <a:rPr sz="1100" i="1">
                <a:solidFill>
                  <a:srgbClr val="1A1A1A"/>
                </a:solidFill>
                <a:latin typeface="Calibri"/>
              </a:rPr>
              <a:t>'Effective Heart Disease Prediction Using Hybrid Machine Learning Techniques', IEEE Access, 7, pp.81542-81554.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FF6F61"/>
                </a:solidFill>
                <a:latin typeface="Calibri"/>
              </a:rPr>
              <a:t>  Finding: Combined hybrid RF with linear model; achieved 88.7% accuracy on Cleveland dataset.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830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4682B4"/>
                </a:solidFill>
                <a:latin typeface="Calibri"/>
              </a:rPr>
              <a:t>Javeed, A. et al. (2019) </a:t>
            </a:r>
            <a:r>
              <a:rPr sz="1100" i="1">
                <a:solidFill>
                  <a:srgbClr val="1A1A1A"/>
                </a:solidFill>
                <a:latin typeface="Calibri"/>
              </a:rPr>
              <a:t>'An Intelligent Learning System Based on Random Search Algorithm and Optimized Random Forest Model for Improved Heart Disease Detection', IEEE Access, 7, pp.180235-180243.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FF6F61"/>
                </a:solidFill>
                <a:latin typeface="Calibri"/>
              </a:rPr>
              <a:t>  Finding: Used random search optimized RF achieving 93.33% accuracy for heart disease detection.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974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4682B4"/>
                </a:solidFill>
                <a:latin typeface="Calibri"/>
              </a:rPr>
              <a:t>Ali, M.M. et al. (2021) </a:t>
            </a:r>
            <a:r>
              <a:rPr sz="1100" i="1">
                <a:solidFill>
                  <a:srgbClr val="1A1A1A"/>
                </a:solidFill>
                <a:latin typeface="Calibri"/>
              </a:rPr>
              <a:t>'Heart Disease Prediction Using Supervised Machine Learning Algorithms', Informatics in Medicine Unlocked, 24, p.100529.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FF6F61"/>
                </a:solidFill>
                <a:latin typeface="Calibri"/>
              </a:rPr>
              <a:t>  Finding: Compared six classifiers; RF achieved best recall of 90.16% on UCI Heart Disease dataset.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118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4682B4"/>
                </a:solidFill>
                <a:latin typeface="Calibri"/>
              </a:rPr>
              <a:t>Lundberg, S. and Lee, S. (2017) </a:t>
            </a:r>
            <a:r>
              <a:rPr sz="1100" i="1">
                <a:solidFill>
                  <a:srgbClr val="1A1A1A"/>
                </a:solidFill>
                <a:latin typeface="Calibri"/>
              </a:rPr>
              <a:t>'A Unified Approach to Interpreting Model Predictions', Advances in Neural Information Processing Systems, 30.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FF6F61"/>
                </a:solidFill>
                <a:latin typeface="Calibri"/>
              </a:rPr>
              <a:t>  Finding: Introduced SHAP for model-agnostic feature importance; foundational for explainable AI.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>
                <a:solidFill>
                  <a:srgbClr val="FFFFFF"/>
                </a:solidFill>
                <a:latin typeface="Calibri"/>
              </a:defRPr>
            </a:pPr>
            <a:r>
              <a:t>Ravi Kiran Deevi  |  MSc Data Science  |  7PAM2002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What This Project Adds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68680"/>
            <a:ext cx="8046720" cy="777240"/>
          </a:xfrm>
          <a:prstGeom prst="roundRect">
            <a:avLst/>
          </a:prstGeom>
          <a:solidFill>
            <a:srgbClr val="F0F8FF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73152" rtlCol="0" anchor="ctr"/>
          <a:lstStyle/>
          <a:p>
            <a:pPr algn="ctr">
              <a:spcAft>
                <a:spcPts val="300"/>
              </a:spcAft>
              <a:defRPr sz="1300" b="1">
                <a:solidFill>
                  <a:srgbClr val="4682B4"/>
                </a:solidFill>
                <a:latin typeface="Calibri"/>
              </a:defRPr>
            </a:pPr>
            <a:r>
              <a:t>Multi-Model Comparison with Bayesian Optimization</a:t>
            </a:r>
          </a:p>
          <a:p>
            <a:pPr>
              <a:spcAft>
                <a:spcPts val="200"/>
              </a:spcAft>
              <a:defRPr sz="1100">
                <a:solidFill>
                  <a:srgbClr val="1A1A1A"/>
                </a:solidFill>
                <a:latin typeface="Calibri"/>
              </a:defRPr>
            </a:pPr>
            <a:r>
              <a:t>• Systematic evaluation of LR, SVM, and RF using Optuna Bayesian hyperparameter tuning (20 trials, 5-fold CV) rather than manual or grid search.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8046720" cy="777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73152" rtlCol="0" anchor="ctr"/>
          <a:lstStyle/>
          <a:p>
            <a:pPr algn="ctr">
              <a:spcAft>
                <a:spcPts val="300"/>
              </a:spcAft>
              <a:defRPr sz="1300" b="1">
                <a:solidFill>
                  <a:srgbClr val="4682B4"/>
                </a:solidFill>
                <a:latin typeface="Calibri"/>
              </a:defRPr>
            </a:pPr>
            <a:r>
              <a:t>SHAP-Based Explainability</a:t>
            </a:r>
          </a:p>
          <a:p>
            <a:pPr>
              <a:spcAft>
                <a:spcPts val="200"/>
              </a:spcAft>
              <a:defRPr sz="1100">
                <a:solidFill>
                  <a:srgbClr val="1A1A1A"/>
                </a:solidFill>
                <a:latin typeface="Calibri"/>
              </a:defRPr>
            </a:pPr>
            <a:r>
              <a:t>• Application of SHAP values to identify the most critical risk factors (Troponin, CK-MB) driving CVD predictions, moving beyond black-box models.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06039"/>
            <a:ext cx="8046720" cy="777240"/>
          </a:xfrm>
          <a:prstGeom prst="roundRect">
            <a:avLst/>
          </a:prstGeom>
          <a:solidFill>
            <a:srgbClr val="F0F8FF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73152" rtlCol="0" anchor="ctr"/>
          <a:lstStyle/>
          <a:p>
            <a:pPr algn="ctr">
              <a:spcAft>
                <a:spcPts val="300"/>
              </a:spcAft>
              <a:defRPr sz="1300" b="1">
                <a:solidFill>
                  <a:srgbClr val="4682B4"/>
                </a:solidFill>
                <a:latin typeface="Calibri"/>
              </a:defRPr>
            </a:pPr>
            <a:r>
              <a:t>Class Imbalance Evaluation</a:t>
            </a:r>
          </a:p>
          <a:p>
            <a:pPr>
              <a:spcAft>
                <a:spcPts val="200"/>
              </a:spcAft>
              <a:defRPr sz="1100">
                <a:solidFill>
                  <a:srgbClr val="1A1A1A"/>
                </a:solidFill>
                <a:latin typeface="Calibri"/>
              </a:defRPr>
            </a:pPr>
            <a:r>
              <a:t>• Rigorous comparison of SMOTE and ADASYN oversampling on all three models, demonstrating that oversampling does not always improve performance.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474720"/>
            <a:ext cx="8046720" cy="777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73152" rtlCol="0" anchor="ctr"/>
          <a:lstStyle/>
          <a:p>
            <a:pPr algn="ctr">
              <a:spcAft>
                <a:spcPts val="300"/>
              </a:spcAft>
              <a:defRPr sz="1300" b="1">
                <a:solidFill>
                  <a:srgbClr val="4682B4"/>
                </a:solidFill>
                <a:latin typeface="Calibri"/>
              </a:defRPr>
            </a:pPr>
            <a:r>
              <a:t>Erbil Healthcare Dataset</a:t>
            </a:r>
          </a:p>
          <a:p>
            <a:pPr>
              <a:spcAft>
                <a:spcPts val="200"/>
              </a:spcAft>
              <a:defRPr sz="1100">
                <a:solidFill>
                  <a:srgbClr val="1A1A1A"/>
                </a:solidFill>
                <a:latin typeface="Calibri"/>
              </a:defRPr>
            </a:pPr>
            <a:r>
              <a:t>• Validation on a real-world clinical dataset (1,319 patients) from Erbil, Iraq, extending research beyond commonly used UCI/Cleveland datasets.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>
                <a:solidFill>
                  <a:srgbClr val="FFFFFF"/>
                </a:solidFill>
                <a:latin typeface="Calibri"/>
              </a:defRPr>
            </a:pPr>
            <a:r>
              <a:t>Ravi Kiran Deevi  |  MSc Data Science  |  7PAM2002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1A1A1A"/>
                </a:solidFill>
                <a:latin typeface="Calibri"/>
              </a:defRPr>
            </a:pPr>
            <a:r>
              <a:t>• Name: Erbil Cardiovascular Health Dataset (Medicaldataset.csv)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1A1A1A"/>
                </a:solidFill>
                <a:latin typeface="Calibri"/>
              </a:defRPr>
            </a:pPr>
            <a:r>
              <a:t>• Rows: 1,319  |  Columns: 9  |  Type: Binary Classification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1A1A1A"/>
                </a:solidFill>
                <a:latin typeface="Calibri"/>
              </a:defRPr>
            </a:pPr>
            <a:r>
              <a:t>• Features (8): Age, Gender, Heart rate, Systolic BP, Diastolic BP, Blood sugar, CK-MB, Troponin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1A1A1A"/>
                </a:solidFill>
                <a:latin typeface="Calibri"/>
              </a:defRPr>
            </a:pPr>
            <a:r>
              <a:t>• Target: Result (negative=0 / positive=1, label-encoded)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1A1A1A"/>
                </a:solidFill>
                <a:latin typeface="Calibri"/>
              </a:defRPr>
            </a:pPr>
            <a:r>
              <a:t>• Collected: Prof. Ibrahim Hamarash &amp; Dr. Shwan Amen, Erbil Iraq (Nov 2018 – Apr 2019)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1A1A1A"/>
                </a:solidFill>
                <a:latin typeface="Calibri"/>
              </a:defRPr>
            </a:pPr>
            <a:r>
              <a:t>• Source: https://data.mendeley.com/datasets/wmhctcrt5v/1</a:t>
            </a:r>
          </a:p>
        </p:txBody>
      </p:sp>
      <p:pic>
        <p:nvPicPr>
          <p:cNvPr id="4" name="Picture 3" descr="plot_01_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822960"/>
            <a:ext cx="3200400" cy="27432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>
                <a:solidFill>
                  <a:srgbClr val="FFFFFF"/>
                </a:solidFill>
                <a:latin typeface="Calibri"/>
              </a:defRPr>
            </a:pPr>
            <a:r>
              <a:t>Ravi Kiran Deevi  |  MSc Data Science  |  7PAM2002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Ethical Implications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14400"/>
            <a:ext cx="3931920" cy="1645920"/>
          </a:xfrm>
          <a:prstGeom prst="roundRect">
            <a:avLst/>
          </a:prstGeom>
          <a:solidFill>
            <a:srgbClr val="F0F8FF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73152" rtlCol="0" anchor="ctr"/>
          <a:lstStyle/>
          <a:p>
            <a:pPr algn="ctr">
              <a:spcAft>
                <a:spcPts val="300"/>
              </a:spcAft>
              <a:defRPr sz="1400" b="1">
                <a:solidFill>
                  <a:srgbClr val="4682B4"/>
                </a:solidFill>
                <a:latin typeface="Calibri"/>
              </a:defRPr>
            </a:pPr>
            <a:r>
              <a:t>Data Ethics</a:t>
            </a:r>
          </a:p>
          <a:p>
            <a:pPr>
              <a:spcAft>
                <a:spcPts val="200"/>
              </a:spcAft>
              <a:defRPr sz="1200">
                <a:solidFill>
                  <a:srgbClr val="1A1A1A"/>
                </a:solidFill>
                <a:latin typeface="Calibri"/>
              </a:defRPr>
            </a:pPr>
            <a:r>
              <a:t>• Dataset is publicly available under open license (Mendeley Data)</a:t>
            </a:r>
          </a:p>
          <a:p>
            <a:pPr>
              <a:spcAft>
                <a:spcPts val="200"/>
              </a:spcAft>
              <a:defRPr sz="1200">
                <a:solidFill>
                  <a:srgbClr val="1A1A1A"/>
                </a:solidFill>
                <a:latin typeface="Calibri"/>
              </a:defRPr>
            </a:pPr>
            <a:r>
              <a:t>• No personally identifiable information (PII) in the dataset</a:t>
            </a:r>
          </a:p>
          <a:p>
            <a:pPr>
              <a:spcAft>
                <a:spcPts val="200"/>
              </a:spcAft>
              <a:defRPr sz="1200">
                <a:solidFill>
                  <a:srgbClr val="1A1A1A"/>
                </a:solidFill>
                <a:latin typeface="Calibri"/>
              </a:defRPr>
            </a:pPr>
            <a:r>
              <a:t>• Data collected with appropriate medical ethics approval</a:t>
            </a:r>
          </a:p>
          <a:p>
            <a:pPr>
              <a:spcAft>
                <a:spcPts val="200"/>
              </a:spcAft>
              <a:defRPr sz="1200">
                <a:solidFill>
                  <a:srgbClr val="1A1A1A"/>
                </a:solidFill>
                <a:latin typeface="Calibri"/>
              </a:defRPr>
            </a:pPr>
            <a:r>
              <a:t>• All patient records anonymized before publication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914400"/>
            <a:ext cx="3931920" cy="16459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73152" rtlCol="0" anchor="ctr"/>
          <a:lstStyle/>
          <a:p>
            <a:pPr algn="ctr">
              <a:spcAft>
                <a:spcPts val="300"/>
              </a:spcAft>
              <a:defRPr sz="1400" b="1">
                <a:solidFill>
                  <a:srgbClr val="4682B4"/>
                </a:solidFill>
                <a:latin typeface="Calibri"/>
              </a:defRPr>
            </a:pPr>
            <a:r>
              <a:rPr dirty="0"/>
              <a:t>Model Ethics</a:t>
            </a:r>
          </a:p>
          <a:p>
            <a:pPr>
              <a:spcAft>
                <a:spcPts val="200"/>
              </a:spcAft>
              <a:defRPr sz="1200">
                <a:solidFill>
                  <a:srgbClr val="1A1A1A"/>
                </a:solidFill>
                <a:latin typeface="Calibri"/>
              </a:defRPr>
            </a:pPr>
            <a:r>
              <a:rPr dirty="0"/>
              <a:t>• ML predictions should supplement, not replace, clinical judgment</a:t>
            </a:r>
          </a:p>
          <a:p>
            <a:pPr>
              <a:spcAft>
                <a:spcPts val="200"/>
              </a:spcAft>
              <a:defRPr sz="1200">
                <a:solidFill>
                  <a:srgbClr val="1A1A1A"/>
                </a:solidFill>
                <a:latin typeface="Calibri"/>
              </a:defRPr>
            </a:pPr>
            <a:r>
              <a:rPr dirty="0"/>
              <a:t>• Model bias evaluation essential before clinical deployment</a:t>
            </a:r>
          </a:p>
          <a:p>
            <a:pPr>
              <a:spcAft>
                <a:spcPts val="200"/>
              </a:spcAft>
              <a:defRPr sz="1200">
                <a:solidFill>
                  <a:srgbClr val="1A1A1A"/>
                </a:solidFill>
                <a:latin typeface="Calibri"/>
              </a:defRPr>
            </a:pPr>
            <a:r>
              <a:rPr dirty="0"/>
              <a:t>• Transparent SHAP explanations support responsible AI use</a:t>
            </a:r>
          </a:p>
          <a:p>
            <a:pPr>
              <a:spcAft>
                <a:spcPts val="200"/>
              </a:spcAft>
              <a:defRPr sz="1200">
                <a:solidFill>
                  <a:srgbClr val="1A1A1A"/>
                </a:solidFill>
                <a:latin typeface="Calibri"/>
              </a:defRPr>
            </a:pPr>
            <a:r>
              <a:rPr dirty="0"/>
              <a:t>• False negatives in CVD detection carry life-threatening risks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743200"/>
            <a:ext cx="8138160" cy="1463040"/>
          </a:xfrm>
          <a:prstGeom prst="roundRect">
            <a:avLst/>
          </a:prstGeom>
          <a:solidFill>
            <a:srgbClr val="F0F8FF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73152" rtlCol="0" anchor="ctr"/>
          <a:lstStyle/>
          <a:p>
            <a:pPr algn="ctr">
              <a:spcAft>
                <a:spcPts val="300"/>
              </a:spcAft>
              <a:defRPr sz="1400" b="1">
                <a:solidFill>
                  <a:srgbClr val="4682B4"/>
                </a:solidFill>
                <a:latin typeface="Calibri"/>
              </a:defRPr>
            </a:pPr>
            <a:r>
              <a:t>GDPR &amp; Regulatory Compliance</a:t>
            </a:r>
          </a:p>
          <a:p>
            <a:pPr>
              <a:spcAft>
                <a:spcPts val="200"/>
              </a:spcAft>
              <a:defRPr sz="1200">
                <a:solidFill>
                  <a:srgbClr val="1A1A1A"/>
                </a:solidFill>
                <a:latin typeface="Calibri"/>
              </a:defRPr>
            </a:pPr>
            <a:r>
              <a:t>• Research adheres to University of Hertfordshire ethical guidelines (UPR RE01)</a:t>
            </a:r>
          </a:p>
          <a:p>
            <a:pPr>
              <a:spcAft>
                <a:spcPts val="200"/>
              </a:spcAft>
              <a:defRPr sz="1200">
                <a:solidFill>
                  <a:srgbClr val="1A1A1A"/>
                </a:solidFill>
                <a:latin typeface="Calibri"/>
              </a:defRPr>
            </a:pPr>
            <a:r>
              <a:t>• No direct patient interaction; secondary analysis of published data only</a:t>
            </a:r>
          </a:p>
          <a:p>
            <a:pPr>
              <a:spcAft>
                <a:spcPts val="200"/>
              </a:spcAft>
              <a:defRPr sz="1200">
                <a:solidFill>
                  <a:srgbClr val="1A1A1A"/>
                </a:solidFill>
                <a:latin typeface="Calibri"/>
              </a:defRPr>
            </a:pPr>
            <a:r>
              <a:t>• Findings intended for academic research purposes; clinical deployment would require further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>
                <a:solidFill>
                  <a:srgbClr val="FFFFFF"/>
                </a:solidFill>
                <a:latin typeface="Calibri"/>
              </a:defRPr>
            </a:pPr>
            <a:r>
              <a:t>Ravi Kiran Deevi  |  MSc Data Science  |  7PAM2002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Exploratory Data Analysis – Correlations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4023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1A1A1A"/>
                </a:solidFill>
                <a:latin typeface="Calibri"/>
              </a:defRPr>
            </a:pPr>
            <a:r>
              <a:t>• Troponin and CK-MB show strongest correlation with the target (Result)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1A1A1A"/>
                </a:solidFill>
                <a:latin typeface="Calibri"/>
              </a:defRPr>
            </a:pPr>
            <a:r>
              <a:t>• Systolic and Diastolic BP are correlated with each other (~0.5+)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1A1A1A"/>
                </a:solidFill>
                <a:latin typeface="Calibri"/>
              </a:defRPr>
            </a:pPr>
            <a:r>
              <a:t>• Most features show low inter-correlation, reducing multicollinearity concerns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1A1A1A"/>
                </a:solidFill>
                <a:latin typeface="Calibri"/>
              </a:defRPr>
            </a:pPr>
            <a:r>
              <a:t>• Age has weak correlation with target, but contributes in ensemble models</a:t>
            </a:r>
          </a:p>
        </p:txBody>
      </p:sp>
      <p:pic>
        <p:nvPicPr>
          <p:cNvPr id="4" name="Picture 3" descr="plot_03_Feature_Correla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777240"/>
            <a:ext cx="3931920" cy="3383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>
                <a:solidFill>
                  <a:srgbClr val="FFFFFF"/>
                </a:solidFill>
                <a:latin typeface="Calibri"/>
              </a:defRPr>
            </a:pPr>
            <a:r>
              <a:t>Ravi Kiran Deevi  |  MSc Data Science  |  7PAM2002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EDA – Feature Distributions &amp; Outliers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4114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1A1A1A"/>
                </a:solidFill>
                <a:latin typeface="Calibri"/>
              </a:defRPr>
            </a:pPr>
            <a:r>
              <a:t>• Heart rate: max = 1,111 (extreme outlier, possibly erroneous)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1A1A1A"/>
                </a:solidFill>
                <a:latin typeface="Calibri"/>
              </a:defRPr>
            </a:pPr>
            <a:r>
              <a:t>• CK-MB: max = 300 (clinical outlier, possible acute MI marker)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1A1A1A"/>
                </a:solidFill>
                <a:latin typeface="Calibri"/>
              </a:defRPr>
            </a:pPr>
            <a:r>
              <a:t>• Troponin: highly skewed distribution; strong positive class separator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1A1A1A"/>
                </a:solidFill>
                <a:latin typeface="Calibri"/>
              </a:defRPr>
            </a:pPr>
            <a:r>
              <a:t>• Blood sugar: wide range indicating diverse patient profiles</a:t>
            </a:r>
          </a:p>
        </p:txBody>
      </p:sp>
      <p:pic>
        <p:nvPicPr>
          <p:cNvPr id="4" name="Picture 3" descr="plot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390" y="777240"/>
            <a:ext cx="2350580" cy="1554480"/>
          </a:xfrm>
          <a:prstGeom prst="rect">
            <a:avLst/>
          </a:prstGeom>
        </p:spPr>
      </p:pic>
      <p:pic>
        <p:nvPicPr>
          <p:cNvPr id="5" name="Picture 4" descr="plot_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9075" y="2468880"/>
            <a:ext cx="1749209" cy="15544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>
                <a:solidFill>
                  <a:srgbClr val="FFFFFF"/>
                </a:solidFill>
                <a:latin typeface="Calibri"/>
              </a:defRPr>
            </a:pPr>
            <a:r>
              <a:t>Ravi Kiran Deevi  |  MSc Data Science  |  7PAM2002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Preprocessing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1828800" cy="64008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1. Data Inspection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96012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Calibri"/>
              </a:defRPr>
            </a:pPr>
            <a:r>
              <a:t>No missing values detected in 1,319 records across 9 features.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1828800" cy="640080"/>
          </a:xfrm>
          <a:prstGeom prst="roundRect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2. Label Encoding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178308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Calibri"/>
              </a:defRPr>
            </a:pPr>
            <a:r>
              <a:t>Gender: Male/Female → 0/1; Result (target): Negative/Positive → 0/1.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560320"/>
            <a:ext cx="1828800" cy="64008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3. Feature Scaling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606039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Calibri"/>
              </a:defRPr>
            </a:pPr>
            <a:r>
              <a:t>StandardScaler applied to features for LR and SVM (zero mean, unit variance).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383279"/>
            <a:ext cx="1828800" cy="640080"/>
          </a:xfrm>
          <a:prstGeom prst="roundRect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4. Train/Test Split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3428999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Calibri"/>
              </a:defRPr>
            </a:pPr>
            <a:r>
              <a:t>80/20 stratified split (random_state=42): Training = 1,055, Test = 264 samples.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>
                <a:solidFill>
                  <a:srgbClr val="FFFFFF"/>
                </a:solidFill>
                <a:latin typeface="Calibri"/>
              </a:defRPr>
            </a:pPr>
            <a:r>
              <a:t>Ravi Kiran Deevi  |  MSc Data Science  |  7PAM2002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Machine Learning Models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14400"/>
            <a:ext cx="8229600" cy="1051560"/>
          </a:xfrm>
          <a:prstGeom prst="roundRect">
            <a:avLst/>
          </a:prstGeom>
          <a:solidFill>
            <a:srgbClr val="F0F8FF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73152" rtlCol="0" anchor="ctr"/>
          <a:lstStyle/>
          <a:p>
            <a:pPr algn="ctr">
              <a:spcAft>
                <a:spcPts val="300"/>
              </a:spcAft>
              <a:defRPr sz="1400" b="1">
                <a:solidFill>
                  <a:srgbClr val="4682B4"/>
                </a:solidFill>
                <a:latin typeface="Calibri"/>
              </a:defRPr>
            </a:pPr>
            <a:r>
              <a:t>Logistic Regression (LR)</a:t>
            </a:r>
          </a:p>
          <a:p>
            <a:pPr>
              <a:spcAft>
                <a:spcPts val="200"/>
              </a:spcAft>
              <a:defRPr sz="1100">
                <a:solidFill>
                  <a:srgbClr val="1A1A1A"/>
                </a:solidFill>
                <a:latin typeface="Calibri"/>
              </a:defRPr>
            </a:pPr>
            <a:r>
              <a:t>• Linear model for binary classification using sigmoid function</a:t>
            </a:r>
          </a:p>
          <a:p>
            <a:pPr>
              <a:spcAft>
                <a:spcPts val="200"/>
              </a:spcAft>
              <a:defRPr sz="1100">
                <a:solidFill>
                  <a:srgbClr val="1A1A1A"/>
                </a:solidFill>
                <a:latin typeface="Calibri"/>
              </a:defRPr>
            </a:pPr>
            <a:r>
              <a:t>• Regularized via C parameter; interpretable coefficients</a:t>
            </a:r>
          </a:p>
          <a:p>
            <a:pPr>
              <a:spcAft>
                <a:spcPts val="200"/>
              </a:spcAft>
              <a:defRPr sz="1100">
                <a:solidFill>
                  <a:srgbClr val="1A1A1A"/>
                </a:solidFill>
                <a:latin typeface="Calibri"/>
              </a:defRPr>
            </a:pPr>
            <a:r>
              <a:t>• Optimal for linearly separable data; baseline classifier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2057400"/>
            <a:ext cx="8229600" cy="10515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73152" rtlCol="0" anchor="ctr"/>
          <a:lstStyle/>
          <a:p>
            <a:pPr algn="ctr">
              <a:spcAft>
                <a:spcPts val="300"/>
              </a:spcAft>
              <a:defRPr sz="1400" b="1">
                <a:solidFill>
                  <a:srgbClr val="4682B4"/>
                </a:solidFill>
                <a:latin typeface="Calibri"/>
              </a:defRPr>
            </a:pPr>
            <a:r>
              <a:t>Support Vector Machine (SVM)</a:t>
            </a:r>
          </a:p>
          <a:p>
            <a:pPr>
              <a:spcAft>
                <a:spcPts val="200"/>
              </a:spcAft>
              <a:defRPr sz="1100">
                <a:solidFill>
                  <a:srgbClr val="1A1A1A"/>
                </a:solidFill>
                <a:latin typeface="Calibri"/>
              </a:defRPr>
            </a:pPr>
            <a:r>
              <a:t>• Finds optimal hyperplane maximizing margin between classes</a:t>
            </a:r>
          </a:p>
          <a:p>
            <a:pPr>
              <a:spcAft>
                <a:spcPts val="200"/>
              </a:spcAft>
              <a:defRPr sz="1100">
                <a:solidFill>
                  <a:srgbClr val="1A1A1A"/>
                </a:solidFill>
                <a:latin typeface="Calibri"/>
              </a:defRPr>
            </a:pPr>
            <a:r>
              <a:t>• Kernel trick enables non-linear decision boundaries</a:t>
            </a:r>
          </a:p>
          <a:p>
            <a:pPr>
              <a:spcAft>
                <a:spcPts val="200"/>
              </a:spcAft>
              <a:defRPr sz="1100">
                <a:solidFill>
                  <a:srgbClr val="1A1A1A"/>
                </a:solidFill>
                <a:latin typeface="Calibri"/>
              </a:defRPr>
            </a:pPr>
            <a:r>
              <a:t>• Effective in high-dimensional spaces; robust to outliers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3200400"/>
            <a:ext cx="8229600" cy="1051560"/>
          </a:xfrm>
          <a:prstGeom prst="roundRect">
            <a:avLst/>
          </a:prstGeom>
          <a:solidFill>
            <a:srgbClr val="F0F8FF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73152" rtlCol="0" anchor="ctr"/>
          <a:lstStyle/>
          <a:p>
            <a:pPr algn="ctr">
              <a:spcAft>
                <a:spcPts val="300"/>
              </a:spcAft>
              <a:defRPr sz="1400" b="1">
                <a:solidFill>
                  <a:srgbClr val="4682B4"/>
                </a:solidFill>
                <a:latin typeface="Calibri"/>
              </a:defRPr>
            </a:pPr>
            <a:r>
              <a:t>Random Forest (RF)</a:t>
            </a:r>
          </a:p>
          <a:p>
            <a:pPr>
              <a:spcAft>
                <a:spcPts val="200"/>
              </a:spcAft>
              <a:defRPr sz="1100">
                <a:solidFill>
                  <a:srgbClr val="1A1A1A"/>
                </a:solidFill>
                <a:latin typeface="Calibri"/>
              </a:defRPr>
            </a:pPr>
            <a:r>
              <a:t>• Ensemble of decision trees with bagging (bootstrap aggregation)</a:t>
            </a:r>
          </a:p>
          <a:p>
            <a:pPr>
              <a:spcAft>
                <a:spcPts val="200"/>
              </a:spcAft>
              <a:defRPr sz="1100">
                <a:solidFill>
                  <a:srgbClr val="1A1A1A"/>
                </a:solidFill>
                <a:latin typeface="Calibri"/>
              </a:defRPr>
            </a:pPr>
            <a:r>
              <a:t>• Reduces overfitting through averaging; handles non-linearity</a:t>
            </a:r>
          </a:p>
          <a:p>
            <a:pPr>
              <a:spcAft>
                <a:spcPts val="200"/>
              </a:spcAft>
              <a:defRPr sz="1100">
                <a:solidFill>
                  <a:srgbClr val="1A1A1A"/>
                </a:solidFill>
                <a:latin typeface="Calibri"/>
              </a:defRPr>
            </a:pPr>
            <a:r>
              <a:t>• Built-in feature importance; robust to noise and outliers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>
                <a:solidFill>
                  <a:srgbClr val="FFFFFF"/>
                </a:solidFill>
                <a:latin typeface="Calibri"/>
              </a:defRPr>
            </a:pPr>
            <a:r>
              <a:t>Ravi Kiran Deevi  |  MSc Data Science  |  7PAM2002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Model Results – Before Tuning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868680"/>
          <a:ext cx="822960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4682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4682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4682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4682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4682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Logistic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0.7992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0.7978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0.7992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0.7982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SVM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0.7462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0.7449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0.7462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0.7455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0.9848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0.9848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0.9848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0.9848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Picture 3" descr="plot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86000"/>
            <a:ext cx="2560320" cy="2011680"/>
          </a:xfrm>
          <a:prstGeom prst="rect">
            <a:avLst/>
          </a:prstGeom>
        </p:spPr>
      </p:pic>
      <p:pic>
        <p:nvPicPr>
          <p:cNvPr id="5" name="Picture 4" descr="plot_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2286000"/>
            <a:ext cx="2560320" cy="2011680"/>
          </a:xfrm>
          <a:prstGeom prst="rect">
            <a:avLst/>
          </a:prstGeom>
        </p:spPr>
      </p:pic>
      <p:pic>
        <p:nvPicPr>
          <p:cNvPr id="6" name="Picture 5" descr="plot_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2286000"/>
            <a:ext cx="2560320" cy="20116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>
                <a:solidFill>
                  <a:srgbClr val="FFFFFF"/>
                </a:solidFill>
                <a:latin typeface="Calibri"/>
              </a:defRPr>
            </a:pPr>
            <a:r>
              <a:t>Ravi Kiran Deevi  |  MSc Data Science  |  7PAM2002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ROC Curves &amp; AUC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1A1A1A"/>
                </a:solidFill>
                <a:latin typeface="Calibri"/>
              </a:defRPr>
            </a:pPr>
            <a:r>
              <a:t>• ROC-AUC Before Tuning: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1A1A1A"/>
                </a:solidFill>
                <a:latin typeface="Calibri"/>
              </a:defRPr>
            </a:pPr>
            <a:r>
              <a:t>   LR = 0.888  |  SVM = 0.828  |  RF = 0.994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1A1A1A"/>
                </a:solidFill>
                <a:latin typeface="Calibri"/>
              </a:defRPr>
            </a:pPr>
            <a:r>
              <a:t>• ROC-AUC After Tuning:  RF = 0.987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1A1A1A"/>
                </a:solidFill>
                <a:latin typeface="Calibri"/>
              </a:defRPr>
            </a:pPr>
            <a:r>
              <a:t>• RF achieves near-perfect discrimination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1A1A1A"/>
                </a:solidFill>
                <a:latin typeface="Calibri"/>
              </a:defRPr>
            </a:pPr>
            <a:r>
              <a:t>• LR and SVM show moderate improvements post-tuning</a:t>
            </a:r>
          </a:p>
        </p:txBody>
      </p:sp>
      <p:pic>
        <p:nvPicPr>
          <p:cNvPr id="4" name="Picture 3" descr="plot_08_ROC_Curv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777240"/>
            <a:ext cx="4297680" cy="3383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>
                <a:solidFill>
                  <a:srgbClr val="FFFFFF"/>
                </a:solidFill>
                <a:latin typeface="Calibri"/>
              </a:defRPr>
            </a:pPr>
            <a:r>
              <a:t>Ravi Kiran Deevi  |  MSc Data Science  |  7PAM2002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Hyperparameter Tuning (Optuna Bayesian)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F61"/>
                </a:solidFill>
                <a:latin typeface="Calibri"/>
              </a:defRPr>
            </a:pPr>
            <a:r>
              <a:t>Method: Bayesian Optimization | 20 Trials | 5-Fold Cross-Validation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822960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4682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Best Parameters</a:t>
                      </a:r>
                    </a:p>
                  </a:txBody>
                  <a:tcPr>
                    <a:solidFill>
                      <a:srgbClr val="4682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 = 3.164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SVM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 = 6.719, kernel = 'linear', gamma = 'scale'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n_estimators=226, max_depth=3, min_samples_split=2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24688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682B4"/>
                </a:solidFill>
                <a:latin typeface="Calibri"/>
              </a:defRPr>
            </a:pPr>
            <a:r>
              <a:t>After Tuning Results: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2788920"/>
          <a:ext cx="822960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4682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4682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4682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4682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4682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Logistic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0.8258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0.8265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0.8258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0.8261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SVM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0.8333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0.8382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0.8333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0.8346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0.9811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0.9811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0.9811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0.9811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>
                <a:solidFill>
                  <a:srgbClr val="FFFFFF"/>
                </a:solidFill>
                <a:latin typeface="Calibri"/>
              </a:defRPr>
            </a:pPr>
            <a:r>
              <a:t>Ravi Kiran Deevi  |  MSc Data Science  |  7PAM2002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Cross-Validation Results (5-Fold)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914400"/>
          <a:ext cx="822960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4682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Mean Accuracy</a:t>
                      </a:r>
                    </a:p>
                  </a:txBody>
                  <a:tcPr>
                    <a:solidFill>
                      <a:srgbClr val="4682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Std Dev</a:t>
                      </a:r>
                    </a:p>
                  </a:txBody>
                  <a:tcPr>
                    <a:solidFill>
                      <a:srgbClr val="4682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Mean F1-Score</a:t>
                      </a:r>
                    </a:p>
                  </a:txBody>
                  <a:tcPr>
                    <a:solidFill>
                      <a:srgbClr val="4682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0.9848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0.0054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0.9849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Logistic Regression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0.7923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0.0222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0.7922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SVM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0.7377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0.0182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0.7366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228600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1A1A1A"/>
                </a:solidFill>
                <a:latin typeface="Calibri"/>
              </a:defRPr>
            </a:pPr>
            <a:r>
              <a:t>• Random Forest dominates with 98.48% mean accuracy and lowest variance (0.0054)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A1A1A"/>
                </a:solidFill>
                <a:latin typeface="Calibri"/>
              </a:defRPr>
            </a:pPr>
            <a:r>
              <a:t>• RF shows exceptional stability and generalization across all folds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A1A1A"/>
                </a:solidFill>
                <a:latin typeface="Calibri"/>
              </a:defRPr>
            </a:pPr>
            <a:r>
              <a:t>• LR and SVM show moderate accuracy (~79% and ~74%) with higher variance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A1A1A"/>
                </a:solidFill>
                <a:latin typeface="Calibri"/>
              </a:defRPr>
            </a:pPr>
            <a:r>
              <a:t>• Low standard deviation for RF confirms robustness, not overfitting</a:t>
            </a:r>
          </a:p>
        </p:txBody>
      </p:sp>
      <p:pic>
        <p:nvPicPr>
          <p:cNvPr id="5" name="Picture 4" descr="plot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2286000"/>
            <a:ext cx="2926080" cy="19202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>
                <a:solidFill>
                  <a:srgbClr val="FFFFFF"/>
                </a:solidFill>
                <a:latin typeface="Calibri"/>
              </a:defRPr>
            </a:pPr>
            <a:r>
              <a:t>Ravi Kiran Deevi  |  MSc Data Science  |  7PAM2002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Class Imbalance Analysis (SMOTE / ADASYN)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868680"/>
          <a:ext cx="50292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738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4682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4682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4682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4682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4682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4682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8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Original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0.7992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0.7978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0.7992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0.7982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38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LR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SMOTE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0.7727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0.7890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0.7727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0.7755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738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ADASYN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0.7765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0.8010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0.7765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0.7794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738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RF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Original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0.9848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0.9848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0.9848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0.9848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738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SMOTE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0.9811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0.9811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0.9811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0.9811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738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RF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ADASYN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0.9811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0.9811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0.9811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0.9811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274320" y="3017520"/>
            <a:ext cx="5029200" cy="640080"/>
          </a:xfrm>
          <a:prstGeom prst="roundRect">
            <a:avLst/>
          </a:prstGeom>
          <a:solidFill>
            <a:srgbClr val="F0F8FF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1200">
                <a:solidFill>
                  <a:srgbClr val="1A1A1A"/>
                </a:solidFill>
                <a:latin typeface="Calibri"/>
              </a:defRPr>
            </a:pPr>
            <a:r>
              <a:t>Key Finding: SMOTE and ADASYN did NOT improve performance. Original dataset performed best across all models.</a:t>
            </a:r>
          </a:p>
        </p:txBody>
      </p:sp>
      <p:pic>
        <p:nvPicPr>
          <p:cNvPr id="5" name="Picture 4" descr="plot_20_Effect_of_SMOTE_and_ADASYN_on_Rec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92210"/>
            <a:ext cx="3017520" cy="20619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>
                <a:solidFill>
                  <a:srgbClr val="FFFFFF"/>
                </a:solidFill>
                <a:latin typeface="Calibri"/>
              </a:defRPr>
            </a:pPr>
            <a:r>
              <a:t>Ravi Kiran Deevi  |  MSc Data Science  |  7PAM2002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SHAP Feature Importance Analysis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868680"/>
          <a:ext cx="32004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44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Rank</a:t>
                      </a:r>
                    </a:p>
                  </a:txBody>
                  <a:tcPr>
                    <a:solidFill>
                      <a:srgbClr val="4682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4682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Mean |SHAP|</a:t>
                      </a:r>
                    </a:p>
                  </a:txBody>
                  <a:tcPr>
                    <a:solidFill>
                      <a:srgbClr val="4682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Troponin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~0.33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CK-MB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~0.17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~0.03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Systolic BP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~0.01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Blood Sugar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~0.01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Gender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~0.01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Diastolic 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~0.005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Heart Rate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~0.003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74320" y="356616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Troponin is by far the strongest predictor of CVD (SHAP ~ 0.33)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CK-MB is the second most important cardiac biomarker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Clinical biomarkers dominate over demographic features</a:t>
            </a:r>
          </a:p>
        </p:txBody>
      </p:sp>
      <p:pic>
        <p:nvPicPr>
          <p:cNvPr id="5" name="Picture 4" descr="plot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822960"/>
            <a:ext cx="4846320" cy="32918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>
                <a:solidFill>
                  <a:srgbClr val="FFFFFF"/>
                </a:solidFill>
                <a:latin typeface="Calibri"/>
              </a:defRPr>
            </a:pPr>
            <a:r>
              <a:t>Ravi Kiran Deevi  |  MSc Data Science  |  7PAM2002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Analysis &amp; Discussion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868680"/>
            <a:ext cx="2651760" cy="3383280"/>
          </a:xfrm>
          <a:prstGeom prst="roundRect">
            <a:avLst/>
          </a:prstGeom>
          <a:solidFill>
            <a:srgbClr val="F0F8FF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73152" rtlCol="0" anchor="ctr"/>
          <a:lstStyle/>
          <a:p>
            <a:pPr algn="ctr">
              <a:spcAft>
                <a:spcPts val="300"/>
              </a:spcAft>
              <a:defRPr sz="1300" b="1">
                <a:solidFill>
                  <a:srgbClr val="4682B4"/>
                </a:solidFill>
                <a:latin typeface="Calibri"/>
              </a:defRPr>
            </a:pPr>
            <a:r>
              <a:t>Strengths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Calibri"/>
              </a:defRPr>
            </a:pPr>
            <a:r>
              <a:t>• RF achieves 98.48% accuracy with near-perfect AUC (0.994)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Calibri"/>
              </a:defRPr>
            </a:pPr>
            <a:r>
              <a:t>• SHAP provides transparent, clinically meaningful explanations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Calibri"/>
              </a:defRPr>
            </a:pPr>
            <a:r>
              <a:t>• Optuna Bayesian tuning is efficient (20 trials vs. exhaustive search)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Calibri"/>
              </a:defRPr>
            </a:pPr>
            <a:r>
              <a:t>• 5-fold CV confirms RF stability (std = 0.0054)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Calibri"/>
              </a:defRPr>
            </a:pPr>
            <a:r>
              <a:t>• Real-world clinical dataset from Erbil, Iraq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108960" y="868680"/>
            <a:ext cx="2651760" cy="33832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73152" rtlCol="0" anchor="ctr"/>
          <a:lstStyle/>
          <a:p>
            <a:pPr algn="ctr">
              <a:spcAft>
                <a:spcPts val="300"/>
              </a:spcAft>
              <a:defRPr sz="1300" b="1">
                <a:solidFill>
                  <a:srgbClr val="FF6F61"/>
                </a:solidFill>
                <a:latin typeface="Calibri"/>
              </a:defRPr>
            </a:pPr>
            <a:r>
              <a:t>Limitations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Calibri"/>
              </a:defRPr>
            </a:pPr>
            <a:r>
              <a:t>• Small dataset (1,319 records) may limit generalizability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Calibri"/>
              </a:defRPr>
            </a:pPr>
            <a:r>
              <a:t>• Extreme outliers in heart rate (max=1111) not removed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Calibri"/>
              </a:defRPr>
            </a:pPr>
            <a:r>
              <a:t>• Single-center data (Erbil) may not represent global population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Calibri"/>
              </a:defRPr>
            </a:pPr>
            <a:r>
              <a:t>• Only three classifiers evaluated; no deep learning models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Calibri"/>
              </a:defRPr>
            </a:pPr>
            <a:r>
              <a:t>• Binary classification only; no severity staging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868680"/>
            <a:ext cx="2651760" cy="3383280"/>
          </a:xfrm>
          <a:prstGeom prst="roundRect">
            <a:avLst/>
          </a:prstGeom>
          <a:solidFill>
            <a:srgbClr val="F0F8FF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73152" rtlCol="0" anchor="ctr"/>
          <a:lstStyle/>
          <a:p>
            <a:pPr algn="ctr">
              <a:spcAft>
                <a:spcPts val="300"/>
              </a:spcAft>
              <a:defRPr sz="1300" b="1">
                <a:solidFill>
                  <a:srgbClr val="4682B4"/>
                </a:solidFill>
                <a:latin typeface="Calibri"/>
              </a:defRPr>
            </a:pPr>
            <a:r>
              <a:t>Future Work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Calibri"/>
              </a:defRPr>
            </a:pPr>
            <a:r>
              <a:t>• Extend to deep learning (ANN, CNN on ECG data)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Calibri"/>
              </a:defRPr>
            </a:pPr>
            <a:r>
              <a:t>• Multi-center, larger datasets for external validation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Calibri"/>
              </a:defRPr>
            </a:pPr>
            <a:r>
              <a:t>• Feature engineering (e.g., BMI, cholesterol, smoking status)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Calibri"/>
              </a:defRPr>
            </a:pPr>
            <a:r>
              <a:t>• Deployment as clinical decision support web application</a:t>
            </a:r>
          </a:p>
          <a:p>
            <a:pPr>
              <a:spcAft>
                <a:spcPts val="200"/>
              </a:spcAft>
              <a:defRPr sz="1000">
                <a:solidFill>
                  <a:srgbClr val="1A1A1A"/>
                </a:solidFill>
                <a:latin typeface="Calibri"/>
              </a:defRPr>
            </a:pPr>
            <a:r>
              <a:t>• Longitudinal study for temporal risk prediction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>
                <a:solidFill>
                  <a:srgbClr val="FFFFFF"/>
                </a:solidFill>
                <a:latin typeface="Calibri"/>
              </a:defRPr>
            </a:pPr>
            <a:r>
              <a:t>Ravi Kiran Deevi  |  MSc Data Science  |  7PAM2002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Summary &amp; Conclusions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868680"/>
            <a:ext cx="3840480" cy="1463040"/>
          </a:xfrm>
          <a:prstGeom prst="roundRect">
            <a:avLst/>
          </a:prstGeom>
          <a:solidFill>
            <a:srgbClr val="F0F8FF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73152" rtlCol="0" anchor="ctr"/>
          <a:lstStyle/>
          <a:p>
            <a:pPr algn="ctr">
              <a:spcAft>
                <a:spcPts val="300"/>
              </a:spcAft>
              <a:defRPr sz="1300" b="1">
                <a:solidFill>
                  <a:srgbClr val="4682B4"/>
                </a:solidFill>
                <a:latin typeface="Calibri"/>
              </a:defRPr>
            </a:pPr>
            <a:r>
              <a:t>RQ1: Best Classifier</a:t>
            </a:r>
          </a:p>
          <a:p>
            <a:pPr>
              <a:spcAft>
                <a:spcPts val="200"/>
              </a:spcAft>
              <a:defRPr sz="1100">
                <a:solidFill>
                  <a:srgbClr val="1A1A1A"/>
                </a:solidFill>
                <a:latin typeface="Calibri"/>
              </a:defRPr>
            </a:pPr>
            <a:r>
              <a:t>• Random Forest achieved the highest F1-score of 0.9848</a:t>
            </a:r>
          </a:p>
          <a:p>
            <a:pPr>
              <a:spcAft>
                <a:spcPts val="200"/>
              </a:spcAft>
              <a:defRPr sz="1100">
                <a:solidFill>
                  <a:srgbClr val="1A1A1A"/>
                </a:solidFill>
                <a:latin typeface="Calibri"/>
              </a:defRPr>
            </a:pPr>
            <a:r>
              <a:t>• Significantly outperformed LR (0.7982) and SVM (0.7455)</a:t>
            </a:r>
          </a:p>
          <a:p>
            <a:pPr>
              <a:spcAft>
                <a:spcPts val="200"/>
              </a:spcAft>
              <a:defRPr sz="1100">
                <a:solidFill>
                  <a:srgbClr val="1A1A1A"/>
                </a:solidFill>
                <a:latin typeface="Calibri"/>
              </a:defRPr>
            </a:pPr>
            <a:r>
              <a:t>• Near-perfect ROC-AUC of 0.994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80560" y="868680"/>
            <a:ext cx="4114800" cy="14630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73152" rtlCol="0" anchor="ctr"/>
          <a:lstStyle/>
          <a:p>
            <a:pPr algn="ctr">
              <a:spcAft>
                <a:spcPts val="300"/>
              </a:spcAft>
              <a:defRPr sz="1300" b="1">
                <a:solidFill>
                  <a:srgbClr val="4682B4"/>
                </a:solidFill>
                <a:latin typeface="Calibri"/>
              </a:defRPr>
            </a:pPr>
            <a:r>
              <a:t>RQ2: Critical Risk Factors (SHAP)</a:t>
            </a:r>
          </a:p>
          <a:p>
            <a:pPr>
              <a:spcAft>
                <a:spcPts val="200"/>
              </a:spcAft>
              <a:defRPr sz="1100">
                <a:solidFill>
                  <a:srgbClr val="1A1A1A"/>
                </a:solidFill>
                <a:latin typeface="Calibri"/>
              </a:defRPr>
            </a:pPr>
            <a:r>
              <a:t>• Troponin is the dominant predictor (SHAP ~ 0.33)</a:t>
            </a:r>
          </a:p>
          <a:p>
            <a:pPr>
              <a:spcAft>
                <a:spcPts val="200"/>
              </a:spcAft>
              <a:defRPr sz="1100">
                <a:solidFill>
                  <a:srgbClr val="1A1A1A"/>
                </a:solidFill>
                <a:latin typeface="Calibri"/>
              </a:defRPr>
            </a:pPr>
            <a:r>
              <a:t>• CK-MB is the second most important (SHAP ~ 0.17)</a:t>
            </a:r>
          </a:p>
          <a:p>
            <a:pPr>
              <a:spcAft>
                <a:spcPts val="200"/>
              </a:spcAft>
              <a:defRPr sz="1100">
                <a:solidFill>
                  <a:srgbClr val="1A1A1A"/>
                </a:solidFill>
                <a:latin typeface="Calibri"/>
              </a:defRPr>
            </a:pPr>
            <a:r>
              <a:t>• Cardiac biomarkers far outweigh demographic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468880"/>
            <a:ext cx="3840480" cy="1005840"/>
          </a:xfrm>
          <a:prstGeom prst="roundRect">
            <a:avLst/>
          </a:prstGeom>
          <a:solidFill>
            <a:srgbClr val="F0F8FF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73152" rtlCol="0" anchor="ctr"/>
          <a:lstStyle/>
          <a:p>
            <a:pPr algn="ctr">
              <a:spcAft>
                <a:spcPts val="300"/>
              </a:spcAft>
              <a:defRPr sz="1300" b="1">
                <a:solidFill>
                  <a:srgbClr val="4682B4"/>
                </a:solidFill>
                <a:latin typeface="Calibri"/>
              </a:defRPr>
            </a:pPr>
            <a:r>
              <a:t>RQ3: Class Imbalance</a:t>
            </a:r>
          </a:p>
          <a:p>
            <a:pPr>
              <a:spcAft>
                <a:spcPts val="200"/>
              </a:spcAft>
              <a:defRPr sz="1100">
                <a:solidFill>
                  <a:srgbClr val="1A1A1A"/>
                </a:solidFill>
                <a:latin typeface="Calibri"/>
              </a:defRPr>
            </a:pPr>
            <a:r>
              <a:t>• SMOTE and ADASYN did NOT improve performance</a:t>
            </a:r>
          </a:p>
          <a:p>
            <a:pPr>
              <a:spcAft>
                <a:spcPts val="200"/>
              </a:spcAft>
              <a:defRPr sz="1100">
                <a:solidFill>
                  <a:srgbClr val="1A1A1A"/>
                </a:solidFill>
                <a:latin typeface="Calibri"/>
              </a:defRPr>
            </a:pPr>
            <a:r>
              <a:t>• Original dataset yielded best results across all models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657600"/>
            <a:ext cx="8229600" cy="59436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Best Model: Random Forest — 98.48% Accuracy | 0.9848 F1-Score | 0.994 ROC-AUC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>
                <a:solidFill>
                  <a:srgbClr val="FFFFFF"/>
                </a:solidFill>
                <a:latin typeface="Calibri"/>
              </a:defRPr>
            </a:pPr>
            <a:r>
              <a:t>Ravi Kiran Deevi  |  MSc Data Science  |  7PAM2002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Calibri"/>
              </a:defRPr>
            </a:pPr>
            <a:r>
              <a:t>• Ali, M.M. et al. (2021) 'Heart Disease Prediction Using Supervised Machine Learning Algorithms', Informatics in Medicine Unlocked, 24, p.100529.</a:t>
            </a:r>
          </a:p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Calibri"/>
              </a:defRPr>
            </a:pPr>
            <a:r>
              <a:t>• Javeed, A. et al. (2019) 'An Intelligent Learning System Based on Random Search Algorithm and Optimized Random Forest Model for Improved Heart Disease Detection', IEEE Access, 7, pp.180235-180243.</a:t>
            </a:r>
          </a:p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Calibri"/>
              </a:defRPr>
            </a:pPr>
            <a:r>
              <a:t>• Lundberg, S. and Lee, S. (2017) 'A Unified Approach to Interpreting Model Predictions', Advances in Neural Information Processing Systems, 30.</a:t>
            </a:r>
          </a:p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Calibri"/>
              </a:defRPr>
            </a:pPr>
            <a:r>
              <a:t>• Mohan, S., Thirumalai, C. and Srivastava, G. (2019) 'Effective Heart Disease Prediction Using Hybrid Machine Learning Techniques', IEEE Access, 7, pp.81542-81554.</a:t>
            </a:r>
          </a:p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Calibri"/>
              </a:defRPr>
            </a:pPr>
            <a:r>
              <a:t>• Hamarash, I. and Amen, S. (2019) 'Erbil Cardiovascular Health Dataset', Mendeley Data, V1. Available at: https://data.mendeley.com/datasets/wmhctcrt5v/1.</a:t>
            </a:r>
          </a:p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Calibri"/>
              </a:defRPr>
            </a:pPr>
            <a:r>
              <a:t>• World Health Organization (2021) Cardiovascular Diseases (CVDs) Fact Sheet. Available at: https://www.who.int/news-room/fact-sheets/detail/cardiovascular-diseases-(cvds).</a:t>
            </a:r>
          </a:p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Calibri"/>
              </a:defRPr>
            </a:pPr>
            <a:r>
              <a:t>• Akiba, T. et al. (2019) 'Optuna: A Next-generation Hyperparameter Optimization Framework', Proceedings of the 25th ACM SIGKDD, pp.2623-2631.</a:t>
            </a:r>
          </a:p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Calibri"/>
              </a:defRPr>
            </a:pPr>
            <a:r>
              <a:t>• Chawla, N.V. et al. (2002) 'SMOTE: Synthetic Minority Over-sampling Technique', Journal of Artificial Intelligence Research, 16, pp.321-357.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>
                <a:solidFill>
                  <a:srgbClr val="FFFFFF"/>
                </a:solidFill>
                <a:latin typeface="Calibri"/>
              </a:defRPr>
            </a:pPr>
            <a:r>
              <a:t>Ravi Kiran Deevi  |  MSc Data Science  |  7PAM2002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743200" y="1737360"/>
            <a:ext cx="3657600" cy="45720"/>
          </a:xfrm>
          <a:prstGeom prst="rect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Ravi Kiran Deevi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MSc Data Science  |  University of Hertfordshire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6F61"/>
                </a:solidFill>
                <a:latin typeface="Calibri"/>
              </a:defRPr>
            </a:pPr>
            <a:r>
              <a:t>7PAM2002  |  Semester A 2025/2026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4023360"/>
            <a:ext cx="3657600" cy="45720"/>
          </a:xfrm>
          <a:prstGeom prst="rect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4823500"/>
            <a:ext cx="9144000" cy="3200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4873500"/>
            <a:ext cx="82296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FFFFFF"/>
                </a:solidFill>
                <a:latin typeface="Calibri"/>
              </a:defRPr>
            </a:pPr>
            <a:r>
              <a:t>Ravi Kiran Deevi  |  MSc Data Science  |  7PAM2002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2139</Words>
  <Application>Microsoft Office PowerPoint</Application>
  <PresentationFormat>On-screen Show (16:9)</PresentationFormat>
  <Paragraphs>305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Ravi Pc</dc:creator>
  <cp:keywords/>
  <dc:description>generated using python-pptx</dc:description>
  <cp:lastModifiedBy>Ravi Kiran Deevi [Student-PECS]</cp:lastModifiedBy>
  <cp:revision>3</cp:revision>
  <dcterms:created xsi:type="dcterms:W3CDTF">2013-01-27T09:14:16Z</dcterms:created>
  <dcterms:modified xsi:type="dcterms:W3CDTF">2026-03-26T19:04:20Z</dcterms:modified>
  <cp:category/>
</cp:coreProperties>
</file>